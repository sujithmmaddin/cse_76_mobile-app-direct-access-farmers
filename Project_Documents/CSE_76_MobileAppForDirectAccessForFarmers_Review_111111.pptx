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69" r:id="rId3"/>
    <p:sldId id="277" r:id="rId4"/>
    <p:sldId id="278" r:id="rId5"/>
    <p:sldId id="280" r:id="rId6"/>
    <p:sldId id="289" r:id="rId7"/>
    <p:sldId id="290" r:id="rId8"/>
    <p:sldId id="287" r:id="rId9"/>
    <p:sldId id="288" r:id="rId10"/>
    <p:sldId id="257" r:id="rId11"/>
    <p:sldId id="279" r:id="rId12"/>
    <p:sldId id="284" r:id="rId13"/>
    <p:sldId id="285" r:id="rId14"/>
    <p:sldId id="281" r:id="rId15"/>
    <p:sldId id="282" r:id="rId16"/>
    <p:sldId id="283" r:id="rId17"/>
    <p:sldId id="268" r:id="rId18"/>
    <p:sldId id="270" r:id="rId19"/>
    <p:sldId id="265" r:id="rId20"/>
    <p:sldId id="275" r:id="rId21"/>
    <p:sldId id="26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706" autoAdjust="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6T07:50:57.685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6T07:51:00.913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25 1,'-1'25,"-1"-1,-7 28,5-27,-4 50,9 158,-3-335,5-120,0 204,2 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7:53:15.4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jraset.com/research-paper/mobile-application-for-direct-market-access-for-farmer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006.13831" TargetMode="External"/><Relationship Id="rId5" Type="http://schemas.openxmlformats.org/officeDocument/2006/relationships/hyperlink" Target=":%20https:/arxiv.org/abs/2305.12418" TargetMode="External"/><Relationship Id="rId4" Type="http://schemas.openxmlformats.org/officeDocument/2006/relationships/hyperlink" Target="https://www.ijraset.com/research-paper/mobile-application-for-farmer-to-get-direct-access-to-market-transport-line-fertilizer-shops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1119-022-09931-1" TargetMode="External"/><Relationship Id="rId7" Type="http://schemas.openxmlformats.org/officeDocument/2006/relationships/hyperlink" Target="https://en.wikipedia.org/wiki/E-Choupal" TargetMode="External"/><Relationship Id="rId2" Type="http://schemas.openxmlformats.org/officeDocument/2006/relationships/hyperlink" Target="https://www.mdpi.com/2078-2489/15/12/816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wired.com/story/mfarm" TargetMode="External"/><Relationship Id="rId5" Type="http://schemas.openxmlformats.org/officeDocument/2006/relationships/hyperlink" Target=":%20https:/www.mdpi.com/2071-1050/15/16/12530" TargetMode="External"/><Relationship Id="rId4" Type="http://schemas.openxmlformats.org/officeDocument/2006/relationships/hyperlink" Target="https://www.mdpi.com/2073-4395/10/6/855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MOBILE APP FOR DIRECT ACCESS FOR FARMERS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CSE_76 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371346" y="2524064"/>
            <a:ext cx="4679295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Jerrin Joe Francis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055322793"/>
              </p:ext>
            </p:extLst>
          </p:nvPr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20221CSE0735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20221CSE0738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20221CSE0747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DARSHAN B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SUJITH M MADDIN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NAGASHREE M 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- 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Mohamed H B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</a:t>
            </a:r>
            <a:r>
              <a:rPr lang="en-US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PSCS_281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23149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600" b="1" u="sng" dirty="0">
                <a:latin typeface="Cambria" panose="02040503050406030204" pitchFamily="18" charset="0"/>
                <a:ea typeface="Cambria" panose="02040503050406030204" pitchFamily="18" charset="0"/>
              </a:rPr>
              <a:t>Organization:</a:t>
            </a:r>
            <a:r>
              <a:rPr lang="en-US" sz="26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600" dirty="0"/>
              <a:t>Presidency University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600" b="1" u="sng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</a:t>
            </a:r>
            <a:r>
              <a:rPr lang="en-US" sz="2600" u="sng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900" b="1" u="sng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</a:t>
            </a:r>
            <a:r>
              <a:rPr lang="en-US" sz="2600" u="sng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800" dirty="0"/>
              <a:t>Farmers often face challenges in accessing markets, leading to lower income due to middlemen. This gap restricts their ability to sell produce at fair prices. Description: Create a mobile application that connects farmers directly with consumers and retailers. The app should include features for listing produce, negotiating prices, and managing transactions, thereby reducing dependence on intermediaries. Expected Solution: A user-friendly mobile platform that enables farmers to showcase their products and connect with buyers directly, enhancing their income potential.</a:t>
            </a:r>
            <a:r>
              <a:rPr lang="en-US" dirty="0"/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89D19-8196-74E7-2C8E-C8FA7103A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AA4E8-DE5B-14FD-8401-A10701A4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690532"/>
          </a:xfrm>
        </p:spPr>
        <p:txBody>
          <a:bodyPr>
            <a:normAutofit/>
          </a:bodyPr>
          <a:lstStyle/>
          <a:p>
            <a:r>
              <a:rPr lang="en-US" sz="2000" dirty="0"/>
              <a:t>Abstract</a:t>
            </a:r>
          </a:p>
          <a:p>
            <a:r>
              <a:rPr lang="en-US" sz="2000" dirty="0"/>
              <a:t>Literature Survey</a:t>
            </a:r>
          </a:p>
          <a:p>
            <a:r>
              <a:rPr lang="en-US" sz="2000" dirty="0"/>
              <a:t>Objectives</a:t>
            </a:r>
          </a:p>
          <a:p>
            <a:r>
              <a:rPr lang="en-US" sz="2000" dirty="0"/>
              <a:t>Existing Methods &amp; Drawbacks</a:t>
            </a:r>
          </a:p>
          <a:p>
            <a:r>
              <a:rPr lang="en-US" sz="2000" dirty="0"/>
              <a:t>Proposed Method &amp; Feasibility Study</a:t>
            </a:r>
          </a:p>
          <a:p>
            <a:r>
              <a:rPr lang="en-US" sz="2000" dirty="0"/>
              <a:t>Architecture Diagram</a:t>
            </a:r>
          </a:p>
          <a:p>
            <a:r>
              <a:rPr lang="en-US" sz="2000" dirty="0"/>
              <a:t>Modules</a:t>
            </a:r>
          </a:p>
          <a:p>
            <a:r>
              <a:rPr lang="en-US" sz="2000" dirty="0"/>
              <a:t>Hardware and Software details</a:t>
            </a:r>
          </a:p>
          <a:p>
            <a:r>
              <a:rPr lang="en-US" sz="2000" dirty="0"/>
              <a:t>Timeline (Gantt chart)</a:t>
            </a:r>
          </a:p>
          <a:p>
            <a:r>
              <a:rPr lang="en-US" sz="2000" dirty="0"/>
              <a:t>References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62080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6BCA9-79EE-CCC5-34AA-04859000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64190-7BC8-8A67-AA78-ABB38BA7E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Farmers often lose income due to middlemen in the market chain.</a:t>
            </a:r>
          </a:p>
          <a:p>
            <a:r>
              <a:rPr lang="en-US" dirty="0"/>
              <a:t>A mobile app is developed to directly connect farmers with verified buyers.</a:t>
            </a:r>
          </a:p>
          <a:p>
            <a:r>
              <a:rPr lang="en-US" dirty="0"/>
              <a:t>The app provides multilingual support, voice assistance, and offline access.</a:t>
            </a:r>
          </a:p>
          <a:p>
            <a:r>
              <a:rPr lang="en-US" dirty="0"/>
              <a:t>Features include product listing, price negotiation, payments, logistics, and advisory.</a:t>
            </a:r>
          </a:p>
          <a:p>
            <a:r>
              <a:rPr lang="en-US" dirty="0"/>
              <a:t>This solution ensures fair pricing, transparency, and improved farmer income.</a:t>
            </a:r>
          </a:p>
        </p:txBody>
      </p:sp>
    </p:spTree>
    <p:extLst>
      <p:ext uri="{BB962C8B-B14F-4D97-AF65-F5344CB8AC3E}">
        <p14:creationId xmlns:p14="http://schemas.microsoft.com/office/powerpoint/2010/main" val="2567088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3FB51-38F2-E0CE-EFDA-25530C8F6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283105"/>
            <a:ext cx="7721700" cy="487500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Literature Survey</a:t>
            </a:r>
            <a:endParaRPr lang="en-IN" dirty="0">
              <a:solidFill>
                <a:schemeClr val="bg2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35B5BF-52BD-B7D0-E600-B622C54D1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752478"/>
              </p:ext>
            </p:extLst>
          </p:nvPr>
        </p:nvGraphicFramePr>
        <p:xfrm>
          <a:off x="304800" y="905933"/>
          <a:ext cx="11175997" cy="5122482"/>
        </p:xfrm>
        <a:graphic>
          <a:graphicData uri="http://schemas.openxmlformats.org/drawingml/2006/table">
            <a:tbl>
              <a:tblPr firstRow="1" firstCol="1" bandRow="1"/>
              <a:tblGrid>
                <a:gridCol w="956733">
                  <a:extLst>
                    <a:ext uri="{9D8B030D-6E8A-4147-A177-3AD203B41FA5}">
                      <a16:colId xmlns:a16="http://schemas.microsoft.com/office/drawing/2014/main" val="2570517056"/>
                    </a:ext>
                  </a:extLst>
                </a:gridCol>
                <a:gridCol w="2074334">
                  <a:extLst>
                    <a:ext uri="{9D8B030D-6E8A-4147-A177-3AD203B41FA5}">
                      <a16:colId xmlns:a16="http://schemas.microsoft.com/office/drawing/2014/main" val="3489172202"/>
                    </a:ext>
                  </a:extLst>
                </a:gridCol>
                <a:gridCol w="1684866">
                  <a:extLst>
                    <a:ext uri="{9D8B030D-6E8A-4147-A177-3AD203B41FA5}">
                      <a16:colId xmlns:a16="http://schemas.microsoft.com/office/drawing/2014/main" val="3319182562"/>
                    </a:ext>
                  </a:extLst>
                </a:gridCol>
                <a:gridCol w="2328334">
                  <a:extLst>
                    <a:ext uri="{9D8B030D-6E8A-4147-A177-3AD203B41FA5}">
                      <a16:colId xmlns:a16="http://schemas.microsoft.com/office/drawing/2014/main" val="13928640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99103723"/>
                    </a:ext>
                  </a:extLst>
                </a:gridCol>
                <a:gridCol w="2099730">
                  <a:extLst>
                    <a:ext uri="{9D8B030D-6E8A-4147-A177-3AD203B41FA5}">
                      <a16:colId xmlns:a16="http://schemas.microsoft.com/office/drawing/2014/main" val="2971741603"/>
                    </a:ext>
                  </a:extLst>
                </a:gridCol>
              </a:tblGrid>
              <a:tr h="299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Ref No.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Methods/Algorithms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311597"/>
                  </a:ext>
                </a:extLst>
              </a:tr>
              <a:tr h="8368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Mobile App for Direct Market Access for Farmers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Aniket Chauhan, Kalpana K Harish, Utkarsh Kumar, Raunak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 (Linear Regression for price prediction), Blockchain, GPS logistics, real-time analytics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Accurate price forecasting, secure transactions, optimized delivery routes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Requires high-quality data, blockchain scalability issues, stable GPS connectivity needed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46292"/>
                  </a:ext>
                </a:extLst>
              </a:tr>
              <a:tr h="8368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Mobile Application to Direct Marketing Access for Farmers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Dr. Latha P H, Ms. Amulya R, Mr. Darshan GS, Ms. Aabha Pandey, Mr. Vinayaka C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 for price prediction and crop recommendations, PayPal API for secure payments, Weather API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User-friendly interface, real-time synchronization, secure payment and escrow support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Relies on PayPal, limited blockchain use, connectivity and digital literacy challenges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53680"/>
                  </a:ext>
                </a:extLst>
              </a:tr>
              <a:tr h="10095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AI-Driven Platform for Direct Market Access for Farmers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Rupali Vyas, Vedita Kesharwani, Chirag Rohra, Rounak Sundrani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AI-driven pricing models (ML algorithms), chatbots, payment gateway integration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Real-time pricing optimization, personalized recommendations, multilingual and voice support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 development complexity, requires digital training and infrastructure support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647624"/>
                  </a:ext>
                </a:extLst>
              </a:tr>
              <a:tr h="8368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Blockchain Technology in Agriculture: Real-World Implementation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Various authors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Blockchain for transparent transactions, smart contracts, IoT for supply chain tracking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Enhanced transparency, trust-building, reduced fraud, improved supply chain monitoring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Blockchain adoption challenges, infrastructure and tech literacy constraints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617369"/>
                  </a:ext>
                </a:extLst>
              </a:tr>
              <a:tr h="1040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Blockchains for Sustainable and Inclusive Finance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Giuseppe Tripoli, Jürgen Schmidhuber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Blockchain technology, smart contracts, decentralized finance (DeFi) models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Highlights blockchain’s transformative role in inclusive finance, transparent records, secure transactions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Implementation complexity, scalability, regulatory/legal uncertainties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403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988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FE124-677B-36CF-5375-4C1D0537A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800" y="352927"/>
            <a:ext cx="7721700" cy="310808"/>
          </a:xfrm>
        </p:spPr>
        <p:txBody>
          <a:bodyPr/>
          <a:lstStyle/>
          <a:p>
            <a:r>
              <a:rPr lang="en-US" dirty="0"/>
              <a:t>     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E27CB0A-B893-66EA-3C6E-45ABAFB0F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225604"/>
              </p:ext>
            </p:extLst>
          </p:nvPr>
        </p:nvGraphicFramePr>
        <p:xfrm>
          <a:off x="513347" y="1524001"/>
          <a:ext cx="10876548" cy="4670265"/>
        </p:xfrm>
        <a:graphic>
          <a:graphicData uri="http://schemas.openxmlformats.org/drawingml/2006/table">
            <a:tbl>
              <a:tblPr firstRow="1" firstCol="1" bandRow="1"/>
              <a:tblGrid>
                <a:gridCol w="1812758">
                  <a:extLst>
                    <a:ext uri="{9D8B030D-6E8A-4147-A177-3AD203B41FA5}">
                      <a16:colId xmlns:a16="http://schemas.microsoft.com/office/drawing/2014/main" val="3311907367"/>
                    </a:ext>
                  </a:extLst>
                </a:gridCol>
                <a:gridCol w="1812758">
                  <a:extLst>
                    <a:ext uri="{9D8B030D-6E8A-4147-A177-3AD203B41FA5}">
                      <a16:colId xmlns:a16="http://schemas.microsoft.com/office/drawing/2014/main" val="1229785277"/>
                    </a:ext>
                  </a:extLst>
                </a:gridCol>
                <a:gridCol w="1812758">
                  <a:extLst>
                    <a:ext uri="{9D8B030D-6E8A-4147-A177-3AD203B41FA5}">
                      <a16:colId xmlns:a16="http://schemas.microsoft.com/office/drawing/2014/main" val="2963419940"/>
                    </a:ext>
                  </a:extLst>
                </a:gridCol>
                <a:gridCol w="1812758">
                  <a:extLst>
                    <a:ext uri="{9D8B030D-6E8A-4147-A177-3AD203B41FA5}">
                      <a16:colId xmlns:a16="http://schemas.microsoft.com/office/drawing/2014/main" val="2243852931"/>
                    </a:ext>
                  </a:extLst>
                </a:gridCol>
                <a:gridCol w="1812758">
                  <a:extLst>
                    <a:ext uri="{9D8B030D-6E8A-4147-A177-3AD203B41FA5}">
                      <a16:colId xmlns:a16="http://schemas.microsoft.com/office/drawing/2014/main" val="2953591360"/>
                    </a:ext>
                  </a:extLst>
                </a:gridCol>
                <a:gridCol w="1812758">
                  <a:extLst>
                    <a:ext uri="{9D8B030D-6E8A-4147-A177-3AD203B41FA5}">
                      <a16:colId xmlns:a16="http://schemas.microsoft.com/office/drawing/2014/main" val="927921822"/>
                    </a:ext>
                  </a:extLst>
                </a:gridCol>
              </a:tblGrid>
              <a:tr h="12082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Blockchain Technology in Agriculture: Case Study of Blockchain Start-up Companies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Chandra Sekhar Bhusal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Survey and case studies of blockchain tech in agriculture; blockchain, smart contracts, IoT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Highlights practical blockchain applications addressing transparency, fraud, price manipulation; supports small farmers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Early-stage tech, cost and scalability challenges; limited first-hand data; adoption barriers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886357"/>
                  </a:ext>
                </a:extLst>
              </a:tr>
              <a:tr h="14525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AI-Powered Mobile Applications for Smallholder Farmers: Transforming Agricultural Productivity, Market Integration, and Resource Optimization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Vivek Kumar Soni, Roshan Verma, Sakshi Verma, Vasu </a:t>
                      </a:r>
                      <a:r>
                        <a:rPr lang="en-IN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Dewangan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Mixed methods: literature review, stakeholder interviews, pilot testing; AI-based app integrating </a:t>
                      </a:r>
                      <a:r>
                        <a:rPr lang="en-IN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agri</a:t>
                      </a: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-data, market, finance, resource optimization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Real impact on farm productivity, market access, financial inclusion; comprehensive app features and proposed solutions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Barriers: internet access, digital literacy, smartphone cost; scalability and security concerns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549179"/>
                  </a:ext>
                </a:extLst>
              </a:tr>
              <a:tr h="182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Artificial Intelligence in Agricultural Extension for Sustainable Livelihoods Among Rural Farmers in Abuja, Nigeria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Ayodele Olajide Olawumi, Beatrice Itoya Oyediji, Joseph Bamidele, Ugochinyere Princess Eleke, Mudashir Adeola Olaitan, Samson Olayemi Sennuga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Machine learning models for weather and market prediction, predictive analytics for yield/pest/crop price, mobile app with voice and sensor integration, AI-enabled advisory platforms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Enhanced farming decisions; location-based, scalable, multilingual support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Connectivity gaps, digital literacy issues, high device cost, lack of training, trust and language barriers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06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513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76DEA-50F5-BEAC-C04D-A3B6568E4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C78A0F-44BF-4F5E-F677-506270E8F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254989"/>
              </p:ext>
            </p:extLst>
          </p:nvPr>
        </p:nvGraphicFramePr>
        <p:xfrm>
          <a:off x="409074" y="1339518"/>
          <a:ext cx="10996860" cy="4049141"/>
        </p:xfrm>
        <a:graphic>
          <a:graphicData uri="http://schemas.openxmlformats.org/drawingml/2006/table">
            <a:tbl>
              <a:tblPr firstRow="1" firstCol="1" bandRow="1"/>
              <a:tblGrid>
                <a:gridCol w="1832810">
                  <a:extLst>
                    <a:ext uri="{9D8B030D-6E8A-4147-A177-3AD203B41FA5}">
                      <a16:colId xmlns:a16="http://schemas.microsoft.com/office/drawing/2014/main" val="853350002"/>
                    </a:ext>
                  </a:extLst>
                </a:gridCol>
                <a:gridCol w="1832810">
                  <a:extLst>
                    <a:ext uri="{9D8B030D-6E8A-4147-A177-3AD203B41FA5}">
                      <a16:colId xmlns:a16="http://schemas.microsoft.com/office/drawing/2014/main" val="226403844"/>
                    </a:ext>
                  </a:extLst>
                </a:gridCol>
                <a:gridCol w="1832810">
                  <a:extLst>
                    <a:ext uri="{9D8B030D-6E8A-4147-A177-3AD203B41FA5}">
                      <a16:colId xmlns:a16="http://schemas.microsoft.com/office/drawing/2014/main" val="2261789950"/>
                    </a:ext>
                  </a:extLst>
                </a:gridCol>
                <a:gridCol w="1832810">
                  <a:extLst>
                    <a:ext uri="{9D8B030D-6E8A-4147-A177-3AD203B41FA5}">
                      <a16:colId xmlns:a16="http://schemas.microsoft.com/office/drawing/2014/main" val="2115541332"/>
                    </a:ext>
                  </a:extLst>
                </a:gridCol>
                <a:gridCol w="1832810">
                  <a:extLst>
                    <a:ext uri="{9D8B030D-6E8A-4147-A177-3AD203B41FA5}">
                      <a16:colId xmlns:a16="http://schemas.microsoft.com/office/drawing/2014/main" val="3394914851"/>
                    </a:ext>
                  </a:extLst>
                </a:gridCol>
                <a:gridCol w="1832810">
                  <a:extLst>
                    <a:ext uri="{9D8B030D-6E8A-4147-A177-3AD203B41FA5}">
                      <a16:colId xmlns:a16="http://schemas.microsoft.com/office/drawing/2014/main" val="68229695"/>
                    </a:ext>
                  </a:extLst>
                </a:gridCol>
              </a:tblGrid>
              <a:tr h="13247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Emerging Opportunities for Blockchain in the Agri-food Industry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Mischa Tripoli, Josef Schmidhuber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Blockchain/distributed ledger tech (DLT), smart contracts, consensus algorithms (PoW, PoS), IoT-based supply chain integration, cryptographic product provenance (RFID, QR, crypto-anchors)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Supply chain transparency, tamper-proof transactions, financial inclusion, digital identity management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Technical complexity, scalability and regulatory challenges, interoperability, high energy usage, resource barriers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003546"/>
                  </a:ext>
                </a:extLst>
              </a:tr>
              <a:tr h="1779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and Implementation of Smart Hydroponics Farming Using IoT-Based AI Controller with Mobile Application System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S. V. S. </a:t>
                      </a:r>
                      <a:r>
                        <a:rPr lang="en-IN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Ramakrishnam</a:t>
                      </a: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Raju, Bhasker </a:t>
                      </a:r>
                      <a:r>
                        <a:rPr lang="en-IN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Dappuri</a:t>
                      </a: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P. Ravi Kiran Varma, Murali </a:t>
                      </a:r>
                      <a:r>
                        <a:rPr lang="en-IN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Yachamaneni</a:t>
                      </a: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D. Marlene Grace Verghese, Manoj Kumar Mishra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IoT sensors (NPK, sunlight, pH, water temp, turbidity, image), Raspberry Pi control, mobile app interface; Deep Learning Convolutional Neural Network (DLCNN) for nutrient prediction and plant disease classification, cloud-based AI processing, RSA/SHA security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Real-time farm monitoring/automation; superior disease detection and nutrient estimation accuracy; user-friendly secure app for both manual and auto modes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System costs, sensor calibration/maintainability, require reliable connectivity; complex hardware and AI model setup; generalizability to traditional farming may be limited</a:t>
                      </a:r>
                    </a:p>
                  </a:txBody>
                  <a:tcPr marL="76200" marR="76200" marT="86995" marB="869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48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05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33FD-8CDD-50AE-F8D5-D3F8B131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Output [snapshots]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77E5C-F7E2-0659-7580-A8752CA52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45719" cy="110066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A17EC0-0D82-2258-1903-BA09B98E73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22327" r="1463" b="22734"/>
          <a:stretch>
            <a:fillRect/>
          </a:stretch>
        </p:blipFill>
        <p:spPr>
          <a:xfrm>
            <a:off x="3503224" y="1198034"/>
            <a:ext cx="2942763" cy="38066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C574A9-0D9B-4EF5-F146-46C6A0E36A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403" r="644" b="19448"/>
          <a:stretch>
            <a:fillRect/>
          </a:stretch>
        </p:blipFill>
        <p:spPr>
          <a:xfrm>
            <a:off x="6445987" y="1198034"/>
            <a:ext cx="2734734" cy="38066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0DDB15-5412-ACC7-4667-40B6652B79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782"/>
          <a:stretch>
            <a:fillRect/>
          </a:stretch>
        </p:blipFill>
        <p:spPr>
          <a:xfrm>
            <a:off x="315622" y="1094293"/>
            <a:ext cx="3175332" cy="45656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11F542-D197-63BD-F67E-3EC7ACE87F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6023"/>
          <a:stretch>
            <a:fillRect/>
          </a:stretch>
        </p:blipFill>
        <p:spPr>
          <a:xfrm>
            <a:off x="9188742" y="920727"/>
            <a:ext cx="2871333" cy="525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55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50B034B-40C9-CCA8-41F8-8636A9B601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237"/>
          <a:stretch>
            <a:fillRect/>
          </a:stretch>
        </p:blipFill>
        <p:spPr>
          <a:xfrm>
            <a:off x="2728312" y="569494"/>
            <a:ext cx="2790599" cy="54302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BCC33B0-A882-4280-535C-A184BD30E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621" y="569495"/>
            <a:ext cx="2628148" cy="54302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B90E5E3-CD87-6934-91E3-46161AF6E1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678"/>
          <a:stretch>
            <a:fillRect/>
          </a:stretch>
        </p:blipFill>
        <p:spPr>
          <a:xfrm>
            <a:off x="8546356" y="625643"/>
            <a:ext cx="2871333" cy="53741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103E8FB-0DBE-2B86-669F-C54EB139E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699" y="625642"/>
            <a:ext cx="2430903" cy="53741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D78A3FE-B8F7-FA8D-7214-33283643896C}"/>
                  </a:ext>
                </a:extLst>
              </p14:cNvPr>
              <p14:cNvContentPartPr/>
              <p14:nvPr/>
            </p14:nvContentPartPr>
            <p14:xfrm>
              <a:off x="2671061" y="801903"/>
              <a:ext cx="360" cy="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D78A3FE-B8F7-FA8D-7214-3328364389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7061" y="69390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D851B8D-F2AD-40BB-4190-E51409B6502A}"/>
                  </a:ext>
                </a:extLst>
              </p14:cNvPr>
              <p14:cNvContentPartPr/>
              <p14:nvPr/>
            </p14:nvContentPartPr>
            <p14:xfrm>
              <a:off x="2662061" y="841863"/>
              <a:ext cx="9360" cy="156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D851B8D-F2AD-40BB-4190-E51409B650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08061" y="734223"/>
                <a:ext cx="117000" cy="37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6476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846667"/>
            <a:ext cx="9783618" cy="491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endParaRPr lang="en-US" b="1" dirty="0"/>
          </a:p>
          <a:p>
            <a:r>
              <a:rPr lang="en-US" sz="2200" b="1" dirty="0"/>
              <a:t>Facilitate Direct Market Access</a:t>
            </a:r>
            <a:r>
              <a:rPr lang="en-US" sz="2200" dirty="0"/>
              <a:t> – connect farmers directly with verified buyers, removing intermediaries and ensuring fair prices.</a:t>
            </a:r>
          </a:p>
          <a:p>
            <a:r>
              <a:rPr lang="en-US" sz="2200" b="1" dirty="0"/>
              <a:t>Promote Inclusive &amp; Accessible Usage</a:t>
            </a:r>
            <a:r>
              <a:rPr lang="en-US" sz="2200" dirty="0"/>
              <a:t> – provide multilingual and voice-assisted support for farmers with low digital literacy.</a:t>
            </a:r>
          </a:p>
          <a:p>
            <a:r>
              <a:rPr lang="en-US" sz="2200" b="1" dirty="0"/>
              <a:t>Enable Reliable Access in Rural Areas</a:t>
            </a:r>
            <a:r>
              <a:rPr lang="en-US" sz="2200" dirty="0"/>
              <a:t> – implement offline-first features so farmers can use the app even with poor connectivity.</a:t>
            </a:r>
          </a:p>
          <a:p>
            <a:r>
              <a:rPr lang="en-US" sz="2200" b="1" dirty="0"/>
              <a:t>Integrate Essential Services</a:t>
            </a:r>
            <a:r>
              <a:rPr lang="en-US" sz="2200" dirty="0"/>
              <a:t> – unify market price tracking, crop advisory, logistics, and secure digital payments in one platform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C9B3-D3F3-30F9-0CBC-A1D514880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4637"/>
            <a:ext cx="10668000" cy="758295"/>
          </a:xfrm>
        </p:spPr>
        <p:txBody>
          <a:bodyPr/>
          <a:lstStyle/>
          <a:p>
            <a:r>
              <a:rPr lang="en-US" dirty="0"/>
              <a:t>Existing Methods &amp; Drawbacks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A9CEC-8E04-F2A3-BABC-6D46B8AB3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667" y="872067"/>
            <a:ext cx="11607800" cy="5367865"/>
          </a:xfrm>
        </p:spPr>
        <p:txBody>
          <a:bodyPr>
            <a:normAutofit lnSpcReduction="10000"/>
          </a:bodyPr>
          <a:lstStyle/>
          <a:p>
            <a:r>
              <a:rPr lang="en-US" sz="1600" b="1" u="sng" dirty="0"/>
              <a:t>Existing Methods</a:t>
            </a:r>
          </a:p>
          <a:p>
            <a:r>
              <a:rPr lang="en-US" sz="1600" b="1" dirty="0"/>
              <a:t>Digital marketplaces </a:t>
            </a:r>
            <a:r>
              <a:rPr lang="en-US" sz="1600" dirty="0"/>
              <a:t> – secure payments, and scalable cloud systems.</a:t>
            </a:r>
          </a:p>
          <a:p>
            <a:r>
              <a:rPr lang="en-US" sz="1600" b="1" dirty="0"/>
              <a:t>Farmer mobile apps</a:t>
            </a:r>
            <a:r>
              <a:rPr lang="en-US" sz="1600" dirty="0"/>
              <a:t> – provide market prices, weather/pest alerts, extension advice, and finance/insurance linkages.</a:t>
            </a:r>
          </a:p>
          <a:p>
            <a:r>
              <a:rPr lang="en-US" sz="1600" b="1" dirty="0"/>
              <a:t>Survey-based studies</a:t>
            </a:r>
            <a:r>
              <a:rPr lang="en-US" sz="1600" dirty="0"/>
              <a:t> – structured questionnaires and regression/statistical models to assess adoption and willingness.</a:t>
            </a:r>
          </a:p>
          <a:p>
            <a:r>
              <a:rPr lang="en-US" sz="1600" b="1" dirty="0"/>
              <a:t>Prototype/system designs</a:t>
            </a:r>
            <a:r>
              <a:rPr lang="en-US" sz="1600" dirty="0"/>
              <a:t> – platforms like </a:t>
            </a:r>
            <a:r>
              <a:rPr lang="en-US" sz="1600" dirty="0" err="1"/>
              <a:t>Agriconnect</a:t>
            </a:r>
            <a:r>
              <a:rPr lang="en-US" sz="1600" dirty="0"/>
              <a:t> with geolocation, inventory tracking, multi-payment, and scalable software stacks.</a:t>
            </a:r>
          </a:p>
          <a:p>
            <a:r>
              <a:rPr lang="en-US" sz="1600" b="1" dirty="0"/>
              <a:t>Reviews &amp; qualitative analysis</a:t>
            </a:r>
            <a:r>
              <a:rPr lang="en-US" sz="1600" dirty="0"/>
              <a:t> – literature reviews, case studies, interviews, and thematic studies on benefits, challenges, and perceptions.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u="sng" dirty="0"/>
              <a:t>Drawbacks</a:t>
            </a:r>
          </a:p>
          <a:p>
            <a:r>
              <a:rPr lang="en-US" sz="1600" b="1" dirty="0"/>
              <a:t>Low digital literacy &amp; usability issues</a:t>
            </a:r>
            <a:r>
              <a:rPr lang="en-US" sz="1600" dirty="0"/>
              <a:t> – farmers need training; apps often not user-friendly.</a:t>
            </a:r>
          </a:p>
          <a:p>
            <a:r>
              <a:rPr lang="en-US" sz="1600" b="1" dirty="0"/>
              <a:t>Weak infrastructure</a:t>
            </a:r>
            <a:r>
              <a:rPr lang="en-US" sz="1600" dirty="0"/>
              <a:t> – poor rural connectivity, electricity gaps, and limited offline functionality.</a:t>
            </a:r>
          </a:p>
          <a:p>
            <a:r>
              <a:rPr lang="en-US" sz="1600" b="1" dirty="0"/>
              <a:t>Poor localization &amp; relevance</a:t>
            </a:r>
            <a:r>
              <a:rPr lang="en-US" sz="1600" dirty="0"/>
              <a:t> – generic content not tailored to crops, languages, or micro-climates.</a:t>
            </a:r>
          </a:p>
          <a:p>
            <a:r>
              <a:rPr lang="en-US" sz="1600" b="1" dirty="0"/>
              <a:t>Fragmented ecosystem &amp; weak evidence</a:t>
            </a:r>
            <a:r>
              <a:rPr lang="en-US" sz="1600" dirty="0"/>
              <a:t> – too many unintegrated apps; few long-term evaluations of impact.</a:t>
            </a:r>
          </a:p>
          <a:p>
            <a:r>
              <a:rPr lang="en-US" sz="1600" b="1" dirty="0"/>
              <a:t>Equity &amp; sustainability gaps</a:t>
            </a:r>
            <a:r>
              <a:rPr lang="en-US" sz="1600" dirty="0"/>
              <a:t> – affordability, gender, and smallholder inclusion overlooked; heavy reliance on donor projects without strong business models.</a:t>
            </a:r>
          </a:p>
        </p:txBody>
      </p:sp>
    </p:spTree>
    <p:extLst>
      <p:ext uri="{BB962C8B-B14F-4D97-AF65-F5344CB8AC3E}">
        <p14:creationId xmlns:p14="http://schemas.microsoft.com/office/powerpoint/2010/main" val="2023295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6111C-F6E4-C528-B787-8173DDD85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78618"/>
            <a:ext cx="10668000" cy="766762"/>
          </a:xfrm>
        </p:spPr>
        <p:txBody>
          <a:bodyPr/>
          <a:lstStyle/>
          <a:p>
            <a:r>
              <a:rPr lang="en-US" dirty="0"/>
              <a:t>Proposed Method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D856B-C9AB-7622-4585-9A041BBBC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041400"/>
            <a:ext cx="10668000" cy="5054601"/>
          </a:xfrm>
        </p:spPr>
        <p:txBody>
          <a:bodyPr>
            <a:normAutofit/>
          </a:bodyPr>
          <a:lstStyle/>
          <a:p>
            <a:r>
              <a:rPr lang="en-US" sz="2000" b="1" dirty="0"/>
              <a:t>Direct Farmer–Buyer Platform</a:t>
            </a:r>
            <a:r>
              <a:rPr lang="en-US" sz="2000" dirty="0"/>
              <a:t> – connects farmers with verified buyers, reducing middlemen.</a:t>
            </a:r>
          </a:p>
          <a:p>
            <a:r>
              <a:rPr lang="en-US" sz="2000" b="1" dirty="0"/>
              <a:t>Bidding &amp; Negotiation</a:t>
            </a:r>
            <a:r>
              <a:rPr lang="en-US" sz="2000" dirty="0"/>
              <a:t> – buyers place bids; highest bidder wins, ensuring fair pricing.</a:t>
            </a:r>
          </a:p>
          <a:p>
            <a:r>
              <a:rPr lang="en-US" sz="2000" b="1" dirty="0"/>
              <a:t>Offline-First &amp; Accessible</a:t>
            </a:r>
            <a:r>
              <a:rPr lang="en-US" sz="2000" dirty="0"/>
              <a:t> – supports use without internet; multilingual and voice-based UI.</a:t>
            </a:r>
          </a:p>
          <a:p>
            <a:r>
              <a:rPr lang="en-US" sz="2000" b="1" dirty="0"/>
              <a:t>Integrated Services</a:t>
            </a:r>
            <a:r>
              <a:rPr lang="en-US" sz="2000" dirty="0"/>
              <a:t> – combines market prices, weather forecasts, crop advisory, payments, and logistics.</a:t>
            </a:r>
          </a:p>
          <a:p>
            <a:r>
              <a:rPr lang="en-US" sz="2000" b="1" dirty="0"/>
              <a:t>Secure Transactions</a:t>
            </a:r>
            <a:r>
              <a:rPr lang="en-US" sz="2000" dirty="0"/>
              <a:t> – UPI/payment gateway, offer history, and fraud prevention.</a:t>
            </a:r>
          </a:p>
          <a:p>
            <a:r>
              <a:rPr lang="en-US" sz="2000" b="1" dirty="0"/>
              <a:t>Admin Module</a:t>
            </a:r>
            <a:r>
              <a:rPr lang="en-US" sz="2000" dirty="0"/>
              <a:t> – verifies users, resolves disputes, and monitors activities.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497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5206-7CFC-76E8-B101-C9BE243B9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9D9F4-4646-147F-F2B0-5E510AE62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43001"/>
            <a:ext cx="10981267" cy="4953000"/>
          </a:xfrm>
        </p:spPr>
        <p:txBody>
          <a:bodyPr>
            <a:normAutofit/>
          </a:bodyPr>
          <a:lstStyle/>
          <a:p>
            <a:r>
              <a:rPr lang="en-US" sz="2200" b="1" dirty="0"/>
              <a:t>Technical Feasibility</a:t>
            </a:r>
            <a:r>
              <a:rPr lang="en-US" sz="2200" dirty="0"/>
              <a:t> –  Built using Android Studio and Firebase (</a:t>
            </a:r>
            <a:r>
              <a:rPr lang="en-US" sz="2200" dirty="0" err="1"/>
              <a:t>Firestore</a:t>
            </a:r>
            <a:r>
              <a:rPr lang="en-US" sz="2200" dirty="0"/>
              <a:t>, Auth, Cloud Functions, FCM, Storage) with external APIs for payments, weather, and logistics. Firebase supports offline sync and scalability.</a:t>
            </a:r>
          </a:p>
          <a:p>
            <a:r>
              <a:rPr lang="en-US" sz="2200" b="1" dirty="0"/>
              <a:t>Economic Feasibility</a:t>
            </a:r>
            <a:r>
              <a:rPr lang="en-US" sz="2200" dirty="0"/>
              <a:t> – Low-cost development using Firebase’s free tier and open-source tools; scalable to paid plans when needed.</a:t>
            </a:r>
          </a:p>
          <a:p>
            <a:r>
              <a:rPr lang="en-US" sz="2200" b="1" dirty="0"/>
              <a:t>Operational Feasibility</a:t>
            </a:r>
            <a:r>
              <a:rPr lang="en-US" sz="2200" dirty="0"/>
              <a:t>  Farmer-friendly design with simple UI, multilingual support, offline capability, and transparent bidding system.</a:t>
            </a:r>
          </a:p>
          <a:p>
            <a:r>
              <a:rPr lang="en-US" sz="2200" b="1" dirty="0"/>
              <a:t>Social Feasibility</a:t>
            </a:r>
            <a:r>
              <a:rPr lang="en-US" sz="2200" dirty="0"/>
              <a:t>  Empowers smallholder farmers, supports women’s participation, eliminates exploitation by middlemen, and builds trust through direct access.</a:t>
            </a:r>
          </a:p>
          <a:p>
            <a:r>
              <a:rPr lang="en-US" sz="2200" b="1" dirty="0"/>
              <a:t>Scalability Feasibility</a:t>
            </a:r>
            <a:r>
              <a:rPr lang="en-US" sz="2200" dirty="0"/>
              <a:t> –  Firebase’s cloud-based deployment ensures large-scale adoption, real-time updates, and easy future expansion.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92828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2E1F-4601-860D-B654-6CB6CE9D2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84667"/>
            <a:ext cx="11040533" cy="855271"/>
          </a:xfrm>
        </p:spPr>
        <p:txBody>
          <a:bodyPr/>
          <a:lstStyle/>
          <a:p>
            <a:r>
              <a:rPr lang="en-US" dirty="0"/>
              <a:t>Architecture Diagram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6C191-A99A-559E-758D-682AD1D4D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3367D-7F52-02E8-5190-A692047542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9" b="15077"/>
          <a:stretch>
            <a:fillRect/>
          </a:stretch>
        </p:blipFill>
        <p:spPr>
          <a:xfrm>
            <a:off x="0" y="516468"/>
            <a:ext cx="12191999" cy="634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98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FF566-9222-F40D-CC7F-8F0B81A1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64E5D-656D-3CEB-C7CB-99B0898EF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543925"/>
          </a:xfrm>
        </p:spPr>
        <p:txBody>
          <a:bodyPr>
            <a:normAutofit/>
          </a:bodyPr>
          <a:lstStyle/>
          <a:p>
            <a:r>
              <a:rPr lang="en-US" sz="1800" b="1" dirty="0"/>
              <a:t>Authentication &amp; User Management</a:t>
            </a:r>
            <a:r>
              <a:rPr lang="en-US" sz="1800" dirty="0"/>
              <a:t> – Provides OTP/email login with role-based access for farmers, buyers, and admins.</a:t>
            </a:r>
          </a:p>
          <a:p>
            <a:r>
              <a:rPr lang="en-US" sz="1800" b="1" dirty="0"/>
              <a:t>Farmer Module</a:t>
            </a:r>
            <a:r>
              <a:rPr lang="en-US" sz="1800" dirty="0"/>
              <a:t> – Lets farmers create profiles, list crops, and negotiate orders via multilingual/voice-friendly interfaces.</a:t>
            </a:r>
          </a:p>
          <a:p>
            <a:r>
              <a:rPr lang="en-US" sz="1800" b="1" dirty="0"/>
              <a:t>Buyer Module</a:t>
            </a:r>
            <a:r>
              <a:rPr lang="en-US" sz="1800" dirty="0"/>
              <a:t> – Enables buyers to search crops, make offers, negotiate, and pay securely.</a:t>
            </a:r>
          </a:p>
          <a:p>
            <a:r>
              <a:rPr lang="en-US" sz="1800" b="1" dirty="0"/>
              <a:t>Market Advisory &amp; Analytics</a:t>
            </a:r>
            <a:r>
              <a:rPr lang="en-US" sz="1800" dirty="0"/>
              <a:t> – Offers real-time prices, weather forecasts, and crop/disease recommendations.</a:t>
            </a:r>
          </a:p>
          <a:p>
            <a:r>
              <a:rPr lang="en-US" sz="1800" b="1" dirty="0"/>
              <a:t>Payment &amp; Transaction</a:t>
            </a:r>
            <a:r>
              <a:rPr lang="en-US" sz="1800" dirty="0"/>
              <a:t> – Handles UPI/payment gateway integration, records history, and confirms transactions.</a:t>
            </a:r>
          </a:p>
          <a:p>
            <a:r>
              <a:rPr lang="en-US" sz="1800" b="1" dirty="0"/>
              <a:t>Admin Module</a:t>
            </a:r>
            <a:r>
              <a:rPr lang="en-US" sz="1800" dirty="0"/>
              <a:t> – Verifies users, resolves disputes, and monitors platform activity.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34320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3064-B701-3708-5876-1B8CA34F0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4637"/>
            <a:ext cx="10668000" cy="868363"/>
          </a:xfrm>
        </p:spPr>
        <p:txBody>
          <a:bodyPr/>
          <a:lstStyle/>
          <a:p>
            <a:r>
              <a:rPr lang="en-US" dirty="0"/>
              <a:t>Hardware and Software details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8C7F0-348B-820D-11A1-5B4A7CDDE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Software Requirements: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Android Studio (Java/Kotlin) – Mobile app development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Firebase Authentication – OTP/Email login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Firebase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Firestore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– Real-time database with offline sync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Firebase Cloud Functions – Backend logic (bidding, notifications)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Firebase Cloud Storage – Crop images and files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Firebase Cloud Messaging (FCM) – Push notifications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Git + GitHub – Version control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76200" indent="0">
              <a:buNone/>
            </a:pPr>
            <a:r>
              <a:rPr lang="en-IN" sz="1800" b="1" dirty="0">
                <a:solidFill>
                  <a:srgbClr val="FF0000"/>
                </a:solidFill>
              </a:rPr>
              <a:t>Frontend (Mobile App):</a:t>
            </a:r>
            <a:endParaRPr lang="en-IN" sz="1800" dirty="0">
              <a:solidFill>
                <a:srgbClr val="FF0000"/>
              </a:solidFill>
            </a:endParaRPr>
          </a:p>
          <a:p>
            <a:r>
              <a:rPr lang="en-IN" sz="1800" b="1" dirty="0"/>
              <a:t>Android Studio (Java/Kotlin)</a:t>
            </a:r>
            <a:r>
              <a:rPr lang="en-IN" sz="1800" dirty="0"/>
              <a:t> for UI + app logic</a:t>
            </a:r>
          </a:p>
          <a:p>
            <a:r>
              <a:rPr lang="en-IN" sz="1800" b="1" dirty="0"/>
              <a:t>Firebase local cache</a:t>
            </a:r>
            <a:r>
              <a:rPr lang="en-IN" sz="1800" dirty="0"/>
              <a:t> for offline storage</a:t>
            </a:r>
          </a:p>
          <a:p>
            <a:pPr marL="76200" indent="0">
              <a:buNone/>
            </a:pPr>
            <a:r>
              <a:rPr lang="en-IN" sz="1800" b="1" dirty="0">
                <a:solidFill>
                  <a:srgbClr val="FF0000"/>
                </a:solidFill>
              </a:rPr>
              <a:t>Backend:</a:t>
            </a:r>
            <a:endParaRPr lang="en-IN" sz="1800" dirty="0">
              <a:solidFill>
                <a:srgbClr val="FF0000"/>
              </a:solidFill>
            </a:endParaRPr>
          </a:p>
          <a:p>
            <a:r>
              <a:rPr lang="en-IN" sz="1800" b="1" dirty="0"/>
              <a:t>Firebase Cloud Functions</a:t>
            </a:r>
            <a:r>
              <a:rPr lang="en-IN" sz="1800" dirty="0"/>
              <a:t> for business logic</a:t>
            </a:r>
          </a:p>
          <a:p>
            <a:r>
              <a:rPr lang="en-IN" sz="1800" b="1" dirty="0" err="1"/>
              <a:t>Firestore</a:t>
            </a:r>
            <a:r>
              <a:rPr lang="en-IN" sz="1800" b="1" dirty="0"/>
              <a:t> Database</a:t>
            </a:r>
            <a:r>
              <a:rPr lang="en-IN" sz="1800" dirty="0"/>
              <a:t> for main storage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934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 : https://github.com/SujithMMaddin/mobile-app-direct-access-farmers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395E53-8DBE-55B8-9596-D911A235F4D6}"/>
                  </a:ext>
                </a:extLst>
              </p14:cNvPr>
              <p14:cNvContentPartPr/>
              <p14:nvPr/>
            </p14:nvContentPartPr>
            <p14:xfrm>
              <a:off x="4307261" y="1603983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395E53-8DBE-55B8-9596-D911A235F4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4621" y="1541343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FCD66C5-5A98-C3BC-5E51-C0326237F8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096" y="1134979"/>
            <a:ext cx="9336504" cy="45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1800" dirty="0"/>
              <a:t>[1] A. N. Akshaya, M. Subash, S. S. M. Sai, R. B. Sakthivel, and A. Praveena, “Mobile Application for Direct Market Access for Farmers,” Int. J. Res. Appl. Sci. Eng. Technol. (IJRASET), vol. 13, no. 1, Jan. 2025. [Online]. </a:t>
            </a:r>
            <a:r>
              <a:rPr lang="en-IN" sz="1800" dirty="0" err="1"/>
              <a:t>Available:</a:t>
            </a:r>
            <a:r>
              <a:rPr lang="en-IN" sz="1800" dirty="0" err="1">
                <a:hlinkClick r:id="rId3"/>
              </a:rPr>
              <a:t>Link</a:t>
            </a:r>
            <a:endParaRPr lang="en-IN" sz="1800" dirty="0"/>
          </a:p>
          <a:p>
            <a:endParaRPr lang="en-IN" sz="2000" dirty="0"/>
          </a:p>
          <a:p>
            <a:r>
              <a:rPr lang="en-IN" sz="1800" dirty="0"/>
              <a:t>[2] A. Tati, P. Landage, S. </a:t>
            </a:r>
            <a:r>
              <a:rPr lang="en-IN" sz="1800" dirty="0" err="1"/>
              <a:t>Auti</a:t>
            </a:r>
            <a:r>
              <a:rPr lang="en-IN" sz="1800" dirty="0"/>
              <a:t>, and N. </a:t>
            </a:r>
            <a:r>
              <a:rPr lang="en-IN" sz="1800" dirty="0" err="1"/>
              <a:t>Naikwadi</a:t>
            </a:r>
            <a:r>
              <a:rPr lang="en-IN" sz="1800" dirty="0"/>
              <a:t>, “Mobile Application for Farmer to Get Direct Access to Market, Transport, and Fertilizer Shops,” Int. J. Res. Appl. Sci. Eng. Technol. (IJRASET), vol. 13, no. 1, Jan. 2025. [Online]. </a:t>
            </a:r>
            <a:r>
              <a:rPr lang="en-IN" sz="1800" dirty="0" err="1"/>
              <a:t>Available:</a:t>
            </a:r>
            <a:r>
              <a:rPr lang="en-IN" sz="1800" dirty="0" err="1">
                <a:hlinkClick r:id="rId4"/>
              </a:rPr>
              <a:t>Link</a:t>
            </a:r>
            <a:endParaRPr lang="en-IN" sz="1800" dirty="0"/>
          </a:p>
          <a:p>
            <a:pPr marL="76200" indent="0">
              <a:buNone/>
            </a:pPr>
            <a:endParaRPr lang="en-IN" sz="1800" dirty="0"/>
          </a:p>
          <a:p>
            <a:r>
              <a:rPr lang="en-IN" sz="1800" dirty="0"/>
              <a:t>[3] C. Hinojosa, M. A. Rodríguez, and S. A. Morales, “</a:t>
            </a:r>
            <a:r>
              <a:rPr lang="en-IN" sz="1800" dirty="0" err="1"/>
              <a:t>AgroTIC</a:t>
            </a:r>
            <a:r>
              <a:rPr lang="en-IN" sz="1800" dirty="0"/>
              <a:t>: Bridging Farmers, Agronomists &amp; Merchants,” </a:t>
            </a:r>
            <a:r>
              <a:rPr lang="en-IN" sz="1800" dirty="0" err="1"/>
              <a:t>arXiv</a:t>
            </a:r>
            <a:r>
              <a:rPr lang="en-IN" sz="1800" dirty="0"/>
              <a:t> preprint, arXiv:2305.12418, May 2023. [Online]. </a:t>
            </a:r>
            <a:r>
              <a:rPr lang="en-IN" sz="1800" dirty="0" err="1"/>
              <a:t>Available:</a:t>
            </a:r>
            <a:r>
              <a:rPr lang="en-IN" sz="1800" dirty="0" err="1">
                <a:hlinkClick r:id="rId5" action="ppaction://hlinkfile"/>
              </a:rPr>
              <a:t>Link</a:t>
            </a:r>
            <a:endParaRPr lang="en-IN" sz="1800" dirty="0"/>
          </a:p>
          <a:p>
            <a:endParaRPr lang="en-IN" sz="1800" dirty="0"/>
          </a:p>
          <a:p>
            <a:r>
              <a:rPr lang="en-US" sz="1800" dirty="0"/>
              <a:t>[4] F. </a:t>
            </a:r>
            <a:r>
              <a:rPr lang="en-US" sz="1800" dirty="0" err="1"/>
              <a:t>Ayim</a:t>
            </a:r>
            <a:r>
              <a:rPr lang="en-US" sz="1800" dirty="0"/>
              <a:t>, J. Armah, and K. Agyekum, “Adoption of ICT Innovations in the Agriculture Sector in Africa: A Systematic Literature Review,” </a:t>
            </a:r>
            <a:r>
              <a:rPr lang="en-US" sz="1800" dirty="0" err="1"/>
              <a:t>arXiv</a:t>
            </a:r>
            <a:r>
              <a:rPr lang="en-US" sz="1800" dirty="0"/>
              <a:t> preprint, arXiv:2006.13831, Jun. 2020. [Online]. </a:t>
            </a:r>
            <a:r>
              <a:rPr lang="en-US" sz="1800" dirty="0" err="1"/>
              <a:t>Available:</a:t>
            </a:r>
            <a:r>
              <a:rPr lang="en-US" sz="1800" dirty="0" err="1">
                <a:hlinkClick r:id="rId6"/>
              </a:rPr>
              <a:t>Link</a:t>
            </a:r>
            <a:endParaRPr lang="en-IN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D3B3F-2F66-7495-16E3-8D6168402886}"/>
              </a:ext>
            </a:extLst>
          </p:cNvPr>
          <p:cNvSpPr txBox="1"/>
          <p:nvPr/>
        </p:nvSpPr>
        <p:spPr>
          <a:xfrm>
            <a:off x="835742" y="1258529"/>
            <a:ext cx="107368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[5] D. Saria, E. </a:t>
            </a:r>
            <a:r>
              <a:rPr lang="en-IN" sz="1800" dirty="0" err="1"/>
              <a:t>Mnyanyi</a:t>
            </a:r>
            <a:r>
              <a:rPr lang="en-IN" sz="1800" dirty="0"/>
              <a:t>, and A. </a:t>
            </a:r>
            <a:r>
              <a:rPr lang="en-IN" sz="1800" dirty="0" err="1"/>
              <a:t>Sife</a:t>
            </a:r>
            <a:r>
              <a:rPr lang="en-IN" sz="1800" dirty="0"/>
              <a:t>, “A Farmers’ Digital Information System (FDIS) for Sustainable Agriculture in Tanzania,” Information, vol. 15, no. 12, pp. 1–20, Dec. 2023. [Online]. </a:t>
            </a:r>
            <a:r>
              <a:rPr lang="en-IN" sz="1800" dirty="0" err="1"/>
              <a:t>Available:</a:t>
            </a:r>
            <a:r>
              <a:rPr lang="en-IN" sz="1800" dirty="0" err="1">
                <a:hlinkClick r:id="rId2"/>
              </a:rPr>
              <a:t>Link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[6] R. </a:t>
            </a:r>
            <a:r>
              <a:rPr lang="en-IN" sz="1800" dirty="0" err="1"/>
              <a:t>Gaviglio</a:t>
            </a:r>
            <a:r>
              <a:rPr lang="en-IN" sz="1800" dirty="0"/>
              <a:t>, A. Bertoni, and D. </a:t>
            </a:r>
            <a:r>
              <a:rPr lang="en-IN" sz="1800" dirty="0" err="1"/>
              <a:t>Demartini</a:t>
            </a:r>
            <a:r>
              <a:rPr lang="en-IN" sz="1800" dirty="0"/>
              <a:t>, “Adoption of Digital Technologies in Small-scale European Farming,” Precision Agriculture, vol. 23, pp. 1578–1599, Aug. 2022. [Online]. </a:t>
            </a:r>
            <a:r>
              <a:rPr lang="en-IN" sz="1800" dirty="0" err="1"/>
              <a:t>Available:</a:t>
            </a:r>
            <a:r>
              <a:rPr lang="en-IN" sz="1800" dirty="0" err="1">
                <a:hlinkClick r:id="rId3"/>
              </a:rPr>
              <a:t>Link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[7] R. Fountas, A. Sorensen, and J. </a:t>
            </a:r>
            <a:r>
              <a:rPr lang="en-IN" sz="1800" dirty="0" err="1"/>
              <a:t>Tsiropoulos</a:t>
            </a:r>
            <a:r>
              <a:rPr lang="en-IN" sz="1800" dirty="0"/>
              <a:t>, “Smartphone Applications Targeting Precision Agriculture Practices—A Systematic Review,” Agronomy, vol. 10, no. 6, p. 855, Jun. 2020. [Online]. </a:t>
            </a:r>
            <a:r>
              <a:rPr lang="en-IN" sz="1800" dirty="0" err="1"/>
              <a:t>Available:</a:t>
            </a:r>
            <a:r>
              <a:rPr lang="en-IN" sz="1800" dirty="0" err="1">
                <a:hlinkClick r:id="rId4"/>
              </a:rPr>
              <a:t>Link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[8] P. Marak and M. Sarma, “Toward Sustainable Digital Agriculture for Smallholder Farmers: A Systematic Literature Review,” Sustainability, vol. 15, no. 16, p. 12530, Aug. 2023. [Online]. </a:t>
            </a:r>
            <a:r>
              <a:rPr lang="en-IN" sz="1800" dirty="0" err="1"/>
              <a:t>Available:</a:t>
            </a:r>
            <a:r>
              <a:rPr lang="en-IN" sz="1800" dirty="0" err="1">
                <a:hlinkClick r:id="rId5" action="ppaction://hlinkfile"/>
              </a:rPr>
              <a:t>Link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[9] J. </a:t>
            </a:r>
            <a:r>
              <a:rPr lang="en-IN" sz="1800" dirty="0" err="1"/>
              <a:t>Kabubo-Mariara</a:t>
            </a:r>
            <a:r>
              <a:rPr lang="en-IN" sz="1800" dirty="0"/>
              <a:t>, “</a:t>
            </a:r>
            <a:r>
              <a:rPr lang="en-IN" sz="1800" dirty="0" err="1"/>
              <a:t>MFarm</a:t>
            </a:r>
            <a:r>
              <a:rPr lang="en-IN" sz="1800" dirty="0"/>
              <a:t>: Market Access via Mobile/SMS in Kenya,” Wired Magazine, 2013. [Online]. </a:t>
            </a:r>
            <a:r>
              <a:rPr lang="en-IN" sz="1800" dirty="0" err="1"/>
              <a:t>Available:</a:t>
            </a:r>
            <a:r>
              <a:rPr lang="en-IN" sz="1800" dirty="0" err="1">
                <a:hlinkClick r:id="rId6"/>
              </a:rPr>
              <a:t>Link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[10] ITC Ltd., “E-</a:t>
            </a:r>
            <a:r>
              <a:rPr lang="en-IN" sz="1800" dirty="0" err="1"/>
              <a:t>Choupal</a:t>
            </a:r>
            <a:r>
              <a:rPr lang="en-IN" sz="1800" dirty="0"/>
              <a:t>: An Initiative of ITC Limited,” Wikipedia, 2023. [Online]. </a:t>
            </a:r>
            <a:r>
              <a:rPr lang="en-IN" sz="1800" dirty="0" err="1"/>
              <a:t>Available:</a:t>
            </a:r>
            <a:r>
              <a:rPr lang="en-IN" sz="1800" dirty="0" err="1">
                <a:hlinkClick r:id="rId7"/>
              </a:rPr>
              <a:t>Link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61940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</TotalTime>
  <Words>2300</Words>
  <Application>Microsoft Office PowerPoint</Application>
  <PresentationFormat>Widescreen</PresentationFormat>
  <Paragraphs>200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Verdana</vt:lpstr>
      <vt:lpstr>Bioinformatics</vt:lpstr>
      <vt:lpstr>MOBILE APP FOR DIRECT ACCESS FOR FARMERS</vt:lpstr>
      <vt:lpstr>Problem Statement Number: PSCS_281 </vt:lpstr>
      <vt:lpstr>Content</vt:lpstr>
      <vt:lpstr>Abstract</vt:lpstr>
      <vt:lpstr>Literature Survey</vt:lpstr>
      <vt:lpstr>     </vt:lpstr>
      <vt:lpstr>    </vt:lpstr>
      <vt:lpstr>Project Output [snapshots]</vt:lpstr>
      <vt:lpstr>PowerPoint Presentation</vt:lpstr>
      <vt:lpstr>Objectives</vt:lpstr>
      <vt:lpstr>Existing Methods &amp; Drawbacks </vt:lpstr>
      <vt:lpstr>Proposed Method </vt:lpstr>
      <vt:lpstr>Feasibility Study</vt:lpstr>
      <vt:lpstr>Architecture Diagram </vt:lpstr>
      <vt:lpstr>Modules</vt:lpstr>
      <vt:lpstr>Hardware and Software details </vt:lpstr>
      <vt:lpstr>Github Link</vt:lpstr>
      <vt:lpstr>Timeline of the Project (Gantt Chart)</vt:lpstr>
      <vt:lpstr>References 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Darshan B</cp:lastModifiedBy>
  <cp:revision>68</cp:revision>
  <dcterms:modified xsi:type="dcterms:W3CDTF">2025-12-06T07:56:59Z</dcterms:modified>
</cp:coreProperties>
</file>